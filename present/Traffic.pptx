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3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B3E1F-3098-4700-AF63-63A8345890A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32A9F-349E-42F9-A6CA-891181027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42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32A9F-349E-42F9-A6CA-8911810275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24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B8A6-4376-2E9F-B617-54F65B94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620AD-8476-7139-CBAE-501B50385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68263-19FC-0F6E-E193-C1901A3F8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6482E-7043-E479-860D-35A39891A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32A9F-349E-42F9-A6CA-89118102758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9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54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2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65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6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50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0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46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1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3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19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9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85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119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93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223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8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6EF6CC3-C951-452A-8195-E2796784BE4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2444B5-E22D-4AE4-B236-9B1C6D69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4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F26EC-E46A-FFD9-2407-E703D04A7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Traffic Signs Recognition using CNN in Keras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4E2E43-95D1-8F56-71C9-02FE82CA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 prepared by </a:t>
            </a:r>
          </a:p>
          <a:p>
            <a:r>
              <a:rPr lang="en-US" dirty="0"/>
              <a:t>Team: 0_Confidence</a:t>
            </a:r>
          </a:p>
          <a:p>
            <a:r>
              <a:rPr lang="en-US" dirty="0"/>
              <a:t>Members From RUET CSE</a:t>
            </a:r>
          </a:p>
          <a:p>
            <a:pPr marL="0" indent="0">
              <a:buNone/>
            </a:pPr>
            <a:r>
              <a:rPr lang="en-US" dirty="0"/>
              <a:t>Taki Tamim(2003002)</a:t>
            </a:r>
          </a:p>
          <a:p>
            <a:pPr marL="0" indent="0">
              <a:buNone/>
            </a:pPr>
            <a:r>
              <a:rPr lang="en-US" dirty="0"/>
              <a:t>Tonmoy(2003027)</a:t>
            </a:r>
          </a:p>
          <a:p>
            <a:pPr marL="0" indent="0">
              <a:buNone/>
            </a:pPr>
            <a:r>
              <a:rPr lang="en-US" dirty="0"/>
              <a:t>Md Abu Sufyan(2003085)</a:t>
            </a:r>
          </a:p>
        </p:txBody>
      </p:sp>
    </p:spTree>
    <p:extLst>
      <p:ext uri="{BB962C8B-B14F-4D97-AF65-F5344CB8AC3E}">
        <p14:creationId xmlns:p14="http://schemas.microsoft.com/office/powerpoint/2010/main" val="2893026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0356-BFE1-E280-68BD-642D0224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BAE04-FD39-2CFC-72A3-25891E17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Traffic sign recognition is a critical component for autonomous vehicles and driver assistance systems</a:t>
            </a:r>
          </a:p>
          <a:p>
            <a:r>
              <a:rPr lang="en-US" dirty="0"/>
              <a:t>Enables safer navigation by interpreting road signs automatically</a:t>
            </a:r>
          </a:p>
          <a:p>
            <a:r>
              <a:rPr lang="en-US" dirty="0"/>
              <a:t>Deep learning approaches, particularly Convolutional Neural Networks (CNNs), have shown remarkable accuracy in this task</a:t>
            </a:r>
          </a:p>
          <a:p>
            <a:r>
              <a:rPr lang="en-US" dirty="0"/>
              <a:t>This presentation covers a comprehensive implementation of traffic sign recognition using CNN with Keras which is a part of </a:t>
            </a:r>
            <a:r>
              <a:rPr lang="en-US" b="1" dirty="0"/>
              <a:t>Advanced driver-assistance systems</a:t>
            </a:r>
            <a:r>
              <a:rPr lang="en-US" dirty="0"/>
              <a:t> (</a:t>
            </a:r>
            <a:r>
              <a:rPr lang="en-US" b="1" dirty="0"/>
              <a:t>ADAS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065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B494-9852-B3A9-EF1A-35A15415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8134-F9D2-774A-1A16-22C46624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Dataset</a:t>
            </a:r>
            <a:r>
              <a:rPr lang="en-US" dirty="0"/>
              <a:t>}: German Traffic Sign Recognition Benchmark (GTSRB)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Classification</a:t>
            </a:r>
            <a:r>
              <a:rPr lang="en-US" dirty="0"/>
              <a:t>}: 43 different classes of traffic signs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Framework</a:t>
            </a:r>
            <a:r>
              <a:rPr lang="en-US" dirty="0"/>
              <a:t>}: TensorFlow and Keras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Approach</a:t>
            </a:r>
            <a:r>
              <a:rPr lang="en-US" dirty="0"/>
              <a:t>}: CNN architecture for feature extraction and classification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Implementation</a:t>
            </a:r>
            <a:r>
              <a:rPr lang="en-US" dirty="0"/>
              <a:t>}: Complete pipeline from data preprocessing to web application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50973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5318-71B3-A0CC-B9AD-36C80E1C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7413-EA02-16BE-F95D-5AECFF0FF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German Traffic Sign Recognition Benchmark (GTSRB)</a:t>
            </a:r>
          </a:p>
          <a:p>
            <a:r>
              <a:rPr lang="en-US" dirty="0"/>
              <a:t>Contains more than 50,000 images of traffic signs</a:t>
            </a:r>
          </a:p>
          <a:p>
            <a:r>
              <a:rPr lang="en-US" dirty="0"/>
              <a:t>43 classes of signs (speed limits, no entry, stop, etc.)</a:t>
            </a:r>
          </a:p>
          <a:p>
            <a:r>
              <a:rPr lang="en-US" dirty="0"/>
              <a:t>Images are of varying sizes and lighting conditions</a:t>
            </a:r>
          </a:p>
          <a:p>
            <a:r>
              <a:rPr lang="en-US" dirty="0"/>
              <a:t>Real-world challenges: occlusion, weather effects, and viewpoint variations</a:t>
            </a:r>
          </a:p>
          <a:p>
            <a:r>
              <a:rPr lang="en-US" dirty="0"/>
              <a:t>Data organized into training, validation, and test sets</a:t>
            </a:r>
          </a:p>
        </p:txBody>
      </p:sp>
    </p:spTree>
    <p:extLst>
      <p:ext uri="{BB962C8B-B14F-4D97-AF65-F5344CB8AC3E}">
        <p14:creationId xmlns:p14="http://schemas.microsoft.com/office/powerpoint/2010/main" val="4748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586B-FC67-FC49-8FDF-5A4D1A53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Exploratory Data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367414-9831-13C1-0BB2-54EFAD299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Analysis of class distribution shows imbalanced representation Visualization of sample images from each class Data insights inform preprocessing decisions</a:t>
            </a:r>
          </a:p>
        </p:txBody>
      </p:sp>
      <p:pic>
        <p:nvPicPr>
          <p:cNvPr id="10" name="Content Placeholder 9" descr="A graph of blue bars&#10;&#10;AI-generated content may be incorrect.">
            <a:extLst>
              <a:ext uri="{FF2B5EF4-FFF2-40B4-BE49-F238E27FC236}">
                <a16:creationId xmlns:a16="http://schemas.microsoft.com/office/drawing/2014/main" id="{F2C25BF0-6CF4-2BAB-1DB6-950240F16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66" y="2074334"/>
            <a:ext cx="6177232" cy="3088616"/>
          </a:xfrm>
        </p:spPr>
      </p:pic>
    </p:spTree>
    <p:extLst>
      <p:ext uri="{BB962C8B-B14F-4D97-AF65-F5344CB8AC3E}">
        <p14:creationId xmlns:p14="http://schemas.microsoft.com/office/powerpoint/2010/main" val="23900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85A2-CFAF-6F42-FA62-59DA5BD2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Sample Images 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191B7E-D050-71D9-C4F5-DD1F0655A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8138" y="1655589"/>
            <a:ext cx="5470525" cy="354682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5A2A4-9CD7-DBA9-97C7-FD44EC1A1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Visualization helps understand diversity in the dataset Variety in illumination, perspective, and quality Challenges for model training become apparent</a:t>
            </a:r>
          </a:p>
        </p:txBody>
      </p:sp>
    </p:spTree>
    <p:extLst>
      <p:ext uri="{BB962C8B-B14F-4D97-AF65-F5344CB8AC3E}">
        <p14:creationId xmlns:p14="http://schemas.microsoft.com/office/powerpoint/2010/main" val="229374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E05A-5C95-53CF-117D-00899487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Data Preprocessing Strategy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43DC449-4A9F-9768-35B0-625C91613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1653251"/>
            <a:ext cx="5470525" cy="35514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72125-BC1B-AAA1-0DF2-C2677918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{Image Resizing}: All images resized to 30×30 pixels for uniform input</a:t>
            </a:r>
          </a:p>
          <a:p>
            <a:pPr algn="l"/>
            <a:r>
              <a:rPr lang="en-US" dirty="0"/>
              <a:t>{Normalization}: Pixel values scaled to [0,1] range</a:t>
            </a:r>
          </a:p>
          <a:p>
            <a:pPr algn="l"/>
            <a:r>
              <a:rPr lang="en-US" dirty="0"/>
              <a:t>{Label Encoding}: One-hot encoding for multi-class classification</a:t>
            </a:r>
          </a:p>
          <a:p>
            <a:pPr algn="l"/>
            <a:r>
              <a:rPr lang="en-US" dirty="0"/>
              <a:t>{Train-Test Split}: Data divided for training and evaluation</a:t>
            </a:r>
          </a:p>
          <a:p>
            <a:pPr algn="l"/>
            <a:r>
              <a:rPr lang="en-US" dirty="0"/>
              <a:t>{Data Augmentation}: (Optional) To address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52134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B4C982-4CBC-CB9A-DCD9-DECFB789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 Overview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44AFC-04BD-331C-597A-B7103FE18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Convolutional Neural Networks are ideal for image classification, Architecture components: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Convolutional layers: Feature extraction.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Pooling layers: Dimensionality reduction.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Dropout layers: Regularization to prevent overfitting.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Dense layers: Classification based on extracted features.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931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6D75-8692-4F4E-5153-3CFAA9FC38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22642" y="5580145"/>
            <a:ext cx="6546715" cy="826682"/>
          </a:xfrm>
        </p:spPr>
        <p:txBody>
          <a:bodyPr>
            <a:normAutofit/>
          </a:bodyPr>
          <a:lstStyle/>
          <a:p>
            <a:r>
              <a:rPr lang="en-US" sz="2800" dirty="0"/>
              <a:t>Model Architecture Implementation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88CAA0-38FE-787D-5987-D7251546E84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/>
        </p:blipFill>
        <p:spPr>
          <a:xfrm>
            <a:off x="2545403" y="864514"/>
            <a:ext cx="7101194" cy="4939788"/>
          </a:xfrm>
        </p:spPr>
      </p:pic>
    </p:spTree>
    <p:extLst>
      <p:ext uri="{BB962C8B-B14F-4D97-AF65-F5344CB8AC3E}">
        <p14:creationId xmlns:p14="http://schemas.microsoft.com/office/powerpoint/2010/main" val="326702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57B3-4546-0DB0-BD31-73A15835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Architectural Design </a:t>
            </a:r>
            <a:r>
              <a:rPr lang="en-US" sz="2800" dirty="0" err="1"/>
              <a:t>Choices</a:t>
            </a:r>
            <a:r>
              <a:rPr lang="en-US" sz="2800" b="1" dirty="0" err="1"/>
              <a:t>Output</a:t>
            </a:r>
            <a:r>
              <a:rPr lang="en-US" sz="2800" b="1" dirty="0"/>
              <a:t> Layer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43 neurons with </a:t>
            </a:r>
            <a:r>
              <a:rPr lang="en-US" sz="2800" dirty="0" err="1"/>
              <a:t>softmax</a:t>
            </a:r>
            <a:r>
              <a:rPr lang="en-US" sz="2800" dirty="0"/>
              <a:t> activation for multi-class probabilities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55200-2A32-DF4A-1179-DEE88640A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Convolutional Layers</a:t>
            </a:r>
            <a:r>
              <a:rPr lang="en-US" dirty="0"/>
              <a:t>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68D8A7-6C62-7474-70D1-19E70DA50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1068" y="3252090"/>
            <a:ext cx="4718304" cy="2632605"/>
          </a:xfrm>
        </p:spPr>
        <p:txBody>
          <a:bodyPr/>
          <a:lstStyle/>
          <a:p>
            <a:r>
              <a:rPr lang="en-US" dirty="0"/>
              <a:t>Two blocks with increasing filter sizes (32 → 64)</a:t>
            </a:r>
          </a:p>
          <a:p>
            <a:r>
              <a:rPr lang="en-US" dirty="0"/>
              <a:t>Smaller kernel sizes in deeper layers (5×5 → 3×3)</a:t>
            </a:r>
          </a:p>
          <a:p>
            <a:r>
              <a:rPr lang="en-US" dirty="0"/>
              <a:t>ReLU activation for non-linearity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7F6BDD-E439-550A-7EF5-EC9AF58C8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Regularization Strategy</a:t>
            </a:r>
            <a:r>
              <a:rPr lang="en-US" dirty="0"/>
              <a:t>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D00F02-93F3-16CC-7D33-DE283337754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Dropout layers with varying rates (0.25 in conv blocks, 0.5 in dense)</a:t>
            </a:r>
          </a:p>
          <a:p>
            <a:r>
              <a:rPr lang="en-US" dirty="0"/>
              <a:t>MaxPooling for spatial downsampling and parameter reduction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0B10B-C78B-0B9C-89F5-E2B6699C6EFF}"/>
              </a:ext>
            </a:extLst>
          </p:cNvPr>
          <p:cNvSpPr txBox="1"/>
          <p:nvPr/>
        </p:nvSpPr>
        <p:spPr>
          <a:xfrm>
            <a:off x="1079770" y="5699668"/>
            <a:ext cx="1022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Layer</a:t>
            </a:r>
            <a:r>
              <a:rPr lang="en-US" dirty="0"/>
              <a:t>: 43 neurons with SoftMax activation for multi-class probabilities</a:t>
            </a:r>
          </a:p>
        </p:txBody>
      </p:sp>
    </p:spTree>
    <p:extLst>
      <p:ext uri="{BB962C8B-B14F-4D97-AF65-F5344CB8AC3E}">
        <p14:creationId xmlns:p14="http://schemas.microsoft.com/office/powerpoint/2010/main" val="268484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C396-5E66-DDBA-A2AE-1D721840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Configuration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943C404-7D66-9F72-0E87-D47B01D3C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8138" y="1724616"/>
            <a:ext cx="5470525" cy="340876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6DF3A6-A3AD-6443-8FAD-366B7B48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{Loss Function}: Categorical Cross-Entropy (appropriate for multi-class)</a:t>
            </a:r>
          </a:p>
          <a:p>
            <a:pPr algn="l"/>
            <a:r>
              <a:rPr lang="en-US" dirty="0"/>
              <a:t>{Optimizer}: Adam (adaptive learning rate)</a:t>
            </a:r>
          </a:p>
          <a:p>
            <a:pPr algn="l"/>
            <a:r>
              <a:rPr lang="en-US" dirty="0"/>
              <a:t>{Metrics}: Accuracy to monitor performance</a:t>
            </a:r>
          </a:p>
          <a:p>
            <a:pPr algn="l"/>
            <a:r>
              <a:rPr lang="en-US" dirty="0"/>
              <a:t>{Batch Size}: 64 (default)</a:t>
            </a:r>
          </a:p>
          <a:p>
            <a:pPr algn="l"/>
            <a:r>
              <a:rPr lang="en-US" dirty="0"/>
              <a:t>{Epochs}: 20 (default, configurable via command line)</a:t>
            </a:r>
          </a:p>
        </p:txBody>
      </p:sp>
    </p:spTree>
    <p:extLst>
      <p:ext uri="{BB962C8B-B14F-4D97-AF65-F5344CB8AC3E}">
        <p14:creationId xmlns:p14="http://schemas.microsoft.com/office/powerpoint/2010/main" val="241384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69ECA8-B79E-0B97-EF15-389E593D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Training Workflow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09F9BB-76C7-F493-E432-ACAAFF73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dirty="0"/>
              <a:t>Load preprocessed data from NumPy arrays.</a:t>
            </a:r>
          </a:p>
          <a:p>
            <a:r>
              <a:rPr lang="en-US" dirty="0"/>
              <a:t>Build the CNN model.</a:t>
            </a:r>
          </a:p>
          <a:p>
            <a:r>
              <a:rPr lang="en-US" dirty="0"/>
              <a:t>Configure training parameters.</a:t>
            </a:r>
          </a:p>
          <a:p>
            <a:r>
              <a:rPr lang="en-US" dirty="0"/>
              <a:t>Train with validation monitoring.</a:t>
            </a:r>
          </a:p>
          <a:p>
            <a:r>
              <a:rPr lang="en-US" dirty="0"/>
              <a:t>Save the best model and training history.</a:t>
            </a:r>
          </a:p>
        </p:txBody>
      </p:sp>
    </p:spTree>
    <p:extLst>
      <p:ext uri="{BB962C8B-B14F-4D97-AF65-F5344CB8AC3E}">
        <p14:creationId xmlns:p14="http://schemas.microsoft.com/office/powerpoint/2010/main" val="127868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8F66-A96C-ABD2-BD39-E1369459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664002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Evaluation Metrics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22059A8-82FA-5DAB-2EF6-9B578441F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500" y="2760134"/>
            <a:ext cx="6141753" cy="255906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DC4D0-E053-351A-3E82-F6375BA6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{Loss}: How far predictions deviate from actual labels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{Accuracy}: Percentage of correctly classified signs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{Training vs. Validation}: Monitoring for overfitting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{Confusion Matrix}: (Not implemented but valuable addition)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{Class-specific Performance}: Understanding per-class accuracy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4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4F8310-14BC-C3E9-B6FA-98095CF2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Evaluation Implementation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352983-01EB-BDD0-7E42-5C82658E7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18138" y="1549442"/>
            <a:ext cx="5470525" cy="375911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4E6396-A729-83E9-0E9A-27D25397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Training and validation curves provide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Convergence: Is the model learning?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Overfitting: Is there a gap between training and validation?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Early stopping points: When did improvement plateau?</a:t>
            </a:r>
          </a:p>
        </p:txBody>
      </p:sp>
    </p:spTree>
    <p:extLst>
      <p:ext uri="{BB962C8B-B14F-4D97-AF65-F5344CB8AC3E}">
        <p14:creationId xmlns:p14="http://schemas.microsoft.com/office/powerpoint/2010/main" val="195367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52E8-BD25-26A1-0C84-96386760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Inference Pipeline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CDB342-1C3D-272E-1ECB-5A25B950F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8138" y="1733234"/>
            <a:ext cx="5470525" cy="33915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F18EC-30C2-E0D1-CAAB-178CA516E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Standalone inference module for testing single images.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Same preprocessing steps ensure consistency.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59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3134-A75D-565F-CA1A-F4032E22FC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07013" y="5476842"/>
            <a:ext cx="7548664" cy="1021235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Streamlit Web Application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B2D5E1-0011-D099-9A0D-812C2424C70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431915" y="645095"/>
            <a:ext cx="6773693" cy="4831747"/>
          </a:xfrm>
        </p:spPr>
      </p:pic>
    </p:spTree>
    <p:extLst>
      <p:ext uri="{BB962C8B-B14F-4D97-AF65-F5344CB8AC3E}">
        <p14:creationId xmlns:p14="http://schemas.microsoft.com/office/powerpoint/2010/main" val="993493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57A1-0FC3-3224-C7C5-433C14272A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180" y="5136289"/>
            <a:ext cx="9601200" cy="1303337"/>
          </a:xfrm>
        </p:spPr>
        <p:txBody>
          <a:bodyPr>
            <a:normAutofit/>
          </a:bodyPr>
          <a:lstStyle/>
          <a:p>
            <a:r>
              <a:rPr lang="en-US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Command Line Execution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A90AA4-4E0C-B61C-A07D-04CABBB2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93" y="768485"/>
            <a:ext cx="6443621" cy="453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32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8E7617-D28E-6D5F-678C-74B14030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DB9B5B-9178-89C4-235E-174CF94E68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upload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preprocessing and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Immediate display of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User-friendly interface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F7C24-642E-15C9-E3A9-3C235E3FCA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Potential enhancements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descriptions instead of just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prediction options</a:t>
            </a:r>
          </a:p>
          <a:p>
            <a:r>
              <a:rPr lang="en-US" dirty="0"/>
              <a:t>Beautiful Frontend Design</a:t>
            </a:r>
          </a:p>
        </p:txBody>
      </p:sp>
    </p:spTree>
    <p:extLst>
      <p:ext uri="{BB962C8B-B14F-4D97-AF65-F5344CB8AC3E}">
        <p14:creationId xmlns:p14="http://schemas.microsoft.com/office/powerpoint/2010/main" val="36659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2464-C1A5-9546-5533-7522901F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Complete Project Pipeline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E0D86-D5E9-C005-AED4-82A5009DC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{Data Collection}: Using GTSRB dataset</a:t>
            </a:r>
          </a:p>
          <a:p>
            <a:r>
              <a:rPr lang="en-US" dirty="0"/>
              <a:t>{Exploratory Data Analysis}: Understanding data characteristics</a:t>
            </a:r>
          </a:p>
          <a:p>
            <a:r>
              <a:rPr lang="en-US" dirty="0"/>
              <a:t>{Data Preprocessing}: Resizing, normalization, and encoding</a:t>
            </a:r>
          </a:p>
          <a:p>
            <a:r>
              <a:rPr lang="en-US" dirty="0"/>
              <a:t>{Model Development}: CNN architecture design</a:t>
            </a:r>
          </a:p>
          <a:p>
            <a:r>
              <a:rPr lang="en-US" dirty="0"/>
              <a:t>{Model Training}: Parameter optimization and validation</a:t>
            </a:r>
          </a:p>
          <a:p>
            <a:r>
              <a:rPr lang="en-US" dirty="0"/>
              <a:t>{Model Evaluation}: Performance assessment</a:t>
            </a:r>
          </a:p>
          <a:p>
            <a:r>
              <a:rPr lang="en-US" dirty="0"/>
              <a:t>{Inference}: Real-world testing</a:t>
            </a:r>
          </a:p>
          <a:p>
            <a:r>
              <a:rPr lang="en-US" dirty="0"/>
              <a:t>{Application Development}: User interface creation</a:t>
            </a:r>
          </a:p>
        </p:txBody>
      </p:sp>
    </p:spTree>
    <p:extLst>
      <p:ext uri="{BB962C8B-B14F-4D97-AF65-F5344CB8AC3E}">
        <p14:creationId xmlns:p14="http://schemas.microsoft.com/office/powerpoint/2010/main" val="719183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807F-3AD2-4391-5E7B-2AE74D2B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8580-4770-268E-2C6E-120AC020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Traffic sign recognition is crucial for autonomous driving safety, CNN-based approach provides high accuracy and robust performance.</a:t>
            </a:r>
          </a:p>
          <a:p>
            <a:pPr marL="0" indent="0">
              <a:buNone/>
            </a:pPr>
            <a:r>
              <a:rPr lang="en-US" sz="2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Complete pipeline from data preparation to deployment demonstration and The modular design allows for easy extension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2489338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6E52-FFFF-E639-1EA9-D7B3993C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8EA338-9114-22CE-2827-C4815521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Traffic Signs Recognition using CNN in Keras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EA604C-FEEC-A870-63D7-7AECF9FA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 prepared by </a:t>
            </a:r>
          </a:p>
          <a:p>
            <a:r>
              <a:rPr lang="en-US" dirty="0"/>
              <a:t>Team: 0_Confidence</a:t>
            </a:r>
          </a:p>
          <a:p>
            <a:r>
              <a:rPr lang="en-US" dirty="0"/>
              <a:t>Members From RUET CSE</a:t>
            </a:r>
          </a:p>
          <a:p>
            <a:pPr marL="0" indent="0">
              <a:buNone/>
            </a:pPr>
            <a:r>
              <a:rPr lang="en-US" dirty="0"/>
              <a:t>Taki Tamim(2003002)</a:t>
            </a:r>
          </a:p>
          <a:p>
            <a:pPr marL="0" indent="0">
              <a:buNone/>
            </a:pPr>
            <a:r>
              <a:rPr lang="en-US" dirty="0"/>
              <a:t>Tonmoy(2003027)</a:t>
            </a:r>
          </a:p>
          <a:p>
            <a:pPr marL="0" indent="0">
              <a:buNone/>
            </a:pPr>
            <a:r>
              <a:rPr lang="en-US" dirty="0"/>
              <a:t>Md Abu Sufyan(2003085)</a:t>
            </a:r>
          </a:p>
        </p:txBody>
      </p:sp>
    </p:spTree>
    <p:extLst>
      <p:ext uri="{BB962C8B-B14F-4D97-AF65-F5344CB8AC3E}">
        <p14:creationId xmlns:p14="http://schemas.microsoft.com/office/powerpoint/2010/main" val="128123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BE15-A5AA-6FF1-3F35-648AB429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0A45-092E-8AD4-A500-4EE29D57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4C8F-68A1-CE1F-81B9-661C289D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sign recognition is a critical component for autonomous vehicles and driver assistance systems</a:t>
            </a:r>
          </a:p>
          <a:p>
            <a:r>
              <a:rPr lang="en-US" dirty="0"/>
              <a:t>Enables safer navigation by interpreting road signs automatically</a:t>
            </a:r>
          </a:p>
          <a:p>
            <a:r>
              <a:rPr lang="en-US" dirty="0"/>
              <a:t>Deep learning approaches, particularly Convolutional Neural Networks (CNNs), have shown remarkable accuracy in this task</a:t>
            </a:r>
          </a:p>
          <a:p>
            <a:r>
              <a:rPr lang="en-US" dirty="0"/>
              <a:t>This presentation covers a comprehensive implementation of traffic sign recognition using CNN with Keras which is a part of ASDS.</a:t>
            </a:r>
          </a:p>
        </p:txBody>
      </p:sp>
    </p:spTree>
    <p:extLst>
      <p:ext uri="{BB962C8B-B14F-4D97-AF65-F5344CB8AC3E}">
        <p14:creationId xmlns:p14="http://schemas.microsoft.com/office/powerpoint/2010/main" val="4002600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CAF7-EC03-4093-0920-A79C6FE5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DF1C-2E54-4EFE-8744-910BEA78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3860-323A-52E7-9E53-F77DBC256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Dataset</a:t>
            </a:r>
            <a:r>
              <a:rPr lang="en-US" dirty="0"/>
              <a:t>}: German Traffic Sign Recognition Benchmark (GTSRB)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Classification</a:t>
            </a:r>
            <a:r>
              <a:rPr lang="en-US" dirty="0"/>
              <a:t>}: 43 different classes of traffic signs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Framework</a:t>
            </a:r>
            <a:r>
              <a:rPr lang="en-US" dirty="0"/>
              <a:t>}: TensorFlow and Keras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Approach</a:t>
            </a:r>
            <a:r>
              <a:rPr lang="en-US" dirty="0"/>
              <a:t>}: CNN architecture for feature extraction and classification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b="1" dirty="0"/>
              <a:t>Implementation</a:t>
            </a:r>
            <a:r>
              <a:rPr lang="en-US" dirty="0"/>
              <a:t>}: Complete pipeline from data preprocessing to web application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507703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4DEC1-A6C3-AEBD-03C5-164DC31F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EAF2-0898-037C-EF98-E85CA982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B9196-C5BD-49D0-1C89-3C728ADB8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German Traffic Sign Recognition Benchmark (GTSRB)</a:t>
            </a:r>
          </a:p>
          <a:p>
            <a:r>
              <a:rPr lang="en-US" dirty="0"/>
              <a:t>Contains more than 50,000 images of traffic signs</a:t>
            </a:r>
          </a:p>
          <a:p>
            <a:r>
              <a:rPr lang="en-US" dirty="0"/>
              <a:t>43 classes of signs (speed limits, no entry, stop, etc.)</a:t>
            </a:r>
          </a:p>
          <a:p>
            <a:r>
              <a:rPr lang="en-US" dirty="0"/>
              <a:t>Images are of varying sizes and lighting conditions</a:t>
            </a:r>
          </a:p>
          <a:p>
            <a:r>
              <a:rPr lang="en-US" dirty="0"/>
              <a:t>Real-world challenges: occlusion, weather effects, and viewpoint variations</a:t>
            </a:r>
          </a:p>
          <a:p>
            <a:r>
              <a:rPr lang="en-US" dirty="0"/>
              <a:t>Data organized into training, validation, and test sets</a:t>
            </a:r>
          </a:p>
        </p:txBody>
      </p:sp>
    </p:spTree>
    <p:extLst>
      <p:ext uri="{BB962C8B-B14F-4D97-AF65-F5344CB8AC3E}">
        <p14:creationId xmlns:p14="http://schemas.microsoft.com/office/powerpoint/2010/main" val="911003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39A2-F2CD-B4CC-FCFC-3D2D2A0B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18A-B518-7127-4A74-06CEABB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Exploratory Data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FC3EF7-9002-3F96-377E-695B48DE7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Analysis of class distribution shows imbalanced representation Visualization of sample images from each class Data insights inform preprocessing decisions</a:t>
            </a:r>
          </a:p>
        </p:txBody>
      </p:sp>
      <p:pic>
        <p:nvPicPr>
          <p:cNvPr id="10" name="Content Placeholder 9" descr="A graph of blue bars&#10;&#10;AI-generated content may be incorrect.">
            <a:extLst>
              <a:ext uri="{FF2B5EF4-FFF2-40B4-BE49-F238E27FC236}">
                <a16:creationId xmlns:a16="http://schemas.microsoft.com/office/drawing/2014/main" id="{F015D094-CC02-5D79-6E9B-6BFCDE2BB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66" y="2074334"/>
            <a:ext cx="6177232" cy="3088616"/>
          </a:xfrm>
        </p:spPr>
      </p:pic>
    </p:spTree>
    <p:extLst>
      <p:ext uri="{BB962C8B-B14F-4D97-AF65-F5344CB8AC3E}">
        <p14:creationId xmlns:p14="http://schemas.microsoft.com/office/powerpoint/2010/main" val="2077560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BF4E-9F82-C682-261B-58C4DD97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400B-775E-224B-D49B-D3CAA8B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Sample Images 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409E88-3451-E4DA-A7A0-4D7848DC5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8138" y="1655589"/>
            <a:ext cx="5470525" cy="354682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2B634-5D08-1DB0-D88A-908751FFE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Visualization helps understand diversity in the dataset Variety in illumination, perspective, and quality Challenges for model training become apparent</a:t>
            </a:r>
          </a:p>
        </p:txBody>
      </p:sp>
    </p:spTree>
    <p:extLst>
      <p:ext uri="{BB962C8B-B14F-4D97-AF65-F5344CB8AC3E}">
        <p14:creationId xmlns:p14="http://schemas.microsoft.com/office/powerpoint/2010/main" val="300346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E0DA-95DF-F1D0-C549-AFB37C76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EFCA-60E1-4022-D56C-B66F89DD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Data Preprocessing Strategy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7C01EA9-43FA-1503-4622-70DE1ADA4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1653251"/>
            <a:ext cx="5470525" cy="35514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7383C-D935-F922-DC95-49E361FDB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{Image Resizing}: All images resized to 30×30 pixels for uniform input</a:t>
            </a:r>
          </a:p>
          <a:p>
            <a:pPr algn="l"/>
            <a:r>
              <a:rPr lang="en-US" dirty="0"/>
              <a:t>{Normalization}: Pixel values scaled to [0,1] range</a:t>
            </a:r>
          </a:p>
          <a:p>
            <a:pPr algn="l"/>
            <a:r>
              <a:rPr lang="en-US" dirty="0"/>
              <a:t>{Label Encoding}: One-hot encoding for multi-class classification</a:t>
            </a:r>
          </a:p>
          <a:p>
            <a:pPr algn="l"/>
            <a:r>
              <a:rPr lang="en-US" dirty="0"/>
              <a:t>{Train-Test Split}: Data divided for training and evaluation</a:t>
            </a:r>
          </a:p>
          <a:p>
            <a:pPr algn="l"/>
            <a:r>
              <a:rPr lang="en-US" dirty="0"/>
              <a:t>{Data Augmentation}: (Optional) To address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1791561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4247-908C-ABB9-3445-1EEDF293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808ED0-D67C-0F9A-DBE5-0F2C53CD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 Overview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1A1E1-9BEB-DF4E-B9D9-C464A1AAB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Convolutional Neural Networks are ideal for image classification, Architecture components: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Convolutional layers: Feature extraction.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Pooling layers: Dimensionality reduction.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Dropout layers: Regularization to prevent overfitting.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Dense layers: Classification based on extracted features.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654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6F2A-C86F-0607-B22F-0F1F50CA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0098-C9FA-9F08-6852-F7DF20D6C5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22642" y="5580145"/>
            <a:ext cx="6546715" cy="826682"/>
          </a:xfrm>
        </p:spPr>
        <p:txBody>
          <a:bodyPr>
            <a:normAutofit/>
          </a:bodyPr>
          <a:lstStyle/>
          <a:p>
            <a:r>
              <a:rPr lang="en-US" sz="2800" dirty="0"/>
              <a:t>Model Architecture Implementation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254F98-7414-C004-AEAA-9B9D4CE6306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/>
        </p:blipFill>
        <p:spPr>
          <a:xfrm>
            <a:off x="2545403" y="864514"/>
            <a:ext cx="7101194" cy="4939788"/>
          </a:xfrm>
        </p:spPr>
      </p:pic>
    </p:spTree>
    <p:extLst>
      <p:ext uri="{BB962C8B-B14F-4D97-AF65-F5344CB8AC3E}">
        <p14:creationId xmlns:p14="http://schemas.microsoft.com/office/powerpoint/2010/main" val="1310343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8A891-EEF6-5F60-F4BB-47017E7D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F7F4-F921-460B-A2C5-C2A12D0D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Architectural Design </a:t>
            </a:r>
            <a:r>
              <a:rPr lang="en-US" sz="2800" dirty="0" err="1"/>
              <a:t>Choices</a:t>
            </a:r>
            <a:r>
              <a:rPr lang="en-US" sz="2800" b="1" dirty="0" err="1"/>
              <a:t>Output</a:t>
            </a:r>
            <a:r>
              <a:rPr lang="en-US" sz="2800" b="1" dirty="0"/>
              <a:t> Layer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43 neurons with </a:t>
            </a:r>
            <a:r>
              <a:rPr lang="en-US" sz="2800" dirty="0" err="1"/>
              <a:t>softmax</a:t>
            </a:r>
            <a:r>
              <a:rPr lang="en-US" sz="2800" dirty="0"/>
              <a:t> activation for multi-class probabilities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9724D-D786-929F-CF95-8BD8699D5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Convolutional Layers</a:t>
            </a:r>
            <a:r>
              <a:rPr lang="en-US" dirty="0"/>
              <a:t>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6BA356-BCBD-5DEB-EF8F-C9DDBF881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1068" y="3252090"/>
            <a:ext cx="4718304" cy="2632605"/>
          </a:xfrm>
        </p:spPr>
        <p:txBody>
          <a:bodyPr/>
          <a:lstStyle/>
          <a:p>
            <a:r>
              <a:rPr lang="en-US" dirty="0"/>
              <a:t>Two blocks with increasing filter sizes (32 → 64)</a:t>
            </a:r>
          </a:p>
          <a:p>
            <a:r>
              <a:rPr lang="en-US" dirty="0"/>
              <a:t>Smaller kernel sizes in deeper layers (5×5 → 3×3)</a:t>
            </a:r>
          </a:p>
          <a:p>
            <a:r>
              <a:rPr lang="en-US" dirty="0"/>
              <a:t>ReLU activation for non-linearity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6D0A8-97BD-72F4-9BCD-B16B48A78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Regularization Strategy</a:t>
            </a:r>
            <a:r>
              <a:rPr lang="en-US" dirty="0"/>
              <a:t>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C30379-7BED-017D-788C-AA90F7ACBA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Dropout layers with varying rates (0.25 in conv blocks, 0.5 in dense)</a:t>
            </a:r>
          </a:p>
          <a:p>
            <a:r>
              <a:rPr lang="en-US" dirty="0"/>
              <a:t>MaxPooling for spatial downsampling and parameter reduction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434DB-43C5-A30D-4AD7-2459381EA062}"/>
              </a:ext>
            </a:extLst>
          </p:cNvPr>
          <p:cNvSpPr txBox="1"/>
          <p:nvPr/>
        </p:nvSpPr>
        <p:spPr>
          <a:xfrm>
            <a:off x="1079770" y="5699668"/>
            <a:ext cx="1022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Layer</a:t>
            </a:r>
            <a:r>
              <a:rPr lang="en-US" dirty="0"/>
              <a:t>: 43 neurons with SoftMax activation for multi-class probabilities</a:t>
            </a:r>
          </a:p>
        </p:txBody>
      </p:sp>
    </p:spTree>
    <p:extLst>
      <p:ext uri="{BB962C8B-B14F-4D97-AF65-F5344CB8AC3E}">
        <p14:creationId xmlns:p14="http://schemas.microsoft.com/office/powerpoint/2010/main" val="452121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A094-E576-38D5-B752-2085A7F5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9C41-00DD-D22F-3730-E3B484D8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Configuration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E77902C-DFB6-F188-0CC4-D962D5B37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8138" y="1724616"/>
            <a:ext cx="5470525" cy="340876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01B59E-50C7-F73F-356B-2995D25D2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{Loss Function}: Categorical Cross-Entropy (appropriate for multi-class)</a:t>
            </a:r>
          </a:p>
          <a:p>
            <a:pPr algn="l"/>
            <a:r>
              <a:rPr lang="en-US" dirty="0"/>
              <a:t>{Optimizer}: Adam (adaptive learning rate)</a:t>
            </a:r>
          </a:p>
          <a:p>
            <a:pPr algn="l"/>
            <a:r>
              <a:rPr lang="en-US" dirty="0"/>
              <a:t>{Metrics}: Accuracy to monitor performance</a:t>
            </a:r>
          </a:p>
          <a:p>
            <a:pPr algn="l"/>
            <a:r>
              <a:rPr lang="en-US" dirty="0"/>
              <a:t>{Batch Size}: 64 (default)</a:t>
            </a:r>
          </a:p>
          <a:p>
            <a:pPr algn="l"/>
            <a:r>
              <a:rPr lang="en-US" dirty="0"/>
              <a:t>{Epochs}: 20 (default, configurable via command line)</a:t>
            </a:r>
          </a:p>
        </p:txBody>
      </p:sp>
    </p:spTree>
    <p:extLst>
      <p:ext uri="{BB962C8B-B14F-4D97-AF65-F5344CB8AC3E}">
        <p14:creationId xmlns:p14="http://schemas.microsoft.com/office/powerpoint/2010/main" val="904772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BA772-EBAB-B510-FF5D-59308A2F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8D6282-4F88-174D-21B0-F8DF493B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Training Workflow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BED6A3-BC4F-DD71-897C-0A880B092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dirty="0"/>
              <a:t>Load preprocessed data from NumPy arrays.</a:t>
            </a:r>
          </a:p>
          <a:p>
            <a:r>
              <a:rPr lang="en-US" dirty="0"/>
              <a:t>Build the CNN model.</a:t>
            </a:r>
          </a:p>
          <a:p>
            <a:r>
              <a:rPr lang="en-US" dirty="0"/>
              <a:t>Configure training parameters.</a:t>
            </a:r>
          </a:p>
          <a:p>
            <a:r>
              <a:rPr lang="en-US" dirty="0"/>
              <a:t>Train with validation monitoring.</a:t>
            </a:r>
          </a:p>
          <a:p>
            <a:r>
              <a:rPr lang="en-US" dirty="0"/>
              <a:t>Save the best model and training history.</a:t>
            </a:r>
          </a:p>
        </p:txBody>
      </p:sp>
    </p:spTree>
    <p:extLst>
      <p:ext uri="{BB962C8B-B14F-4D97-AF65-F5344CB8AC3E}">
        <p14:creationId xmlns:p14="http://schemas.microsoft.com/office/powerpoint/2010/main" val="3137172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DBEB-3153-A58D-6361-938AE769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A3E3-A1C1-742C-A967-1A0F93C6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664002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Evaluation Metrics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62709DA-0943-3689-0ADD-AC44928CE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500" y="2760134"/>
            <a:ext cx="6141753" cy="255906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6620B-F1E2-0A2B-2E39-89C79EB9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{Loss}: How far predictions deviate from actual labels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{Accuracy}: Percentage of correctly classified signs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{Training vs. Validation}: Monitoring for overfitting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{Confusion Matrix}: (Not implemented but valuable addition)</a:t>
            </a:r>
          </a:p>
          <a:p>
            <a:pPr algn="l"/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{Class-specific Performance}: Understanding per-class accuracy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48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AE82-D0D9-AE72-97D3-8993FCDE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DE03D-B0F5-1E4E-6FE3-D4C9EFED7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Evaluation Implementation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F80D48-F780-5CAC-D634-13943B73F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18138" y="1549442"/>
            <a:ext cx="5470525" cy="375911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F68CDA-E8A7-0FBD-2364-3CE799515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Training and validation curves provide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Convergence: Is the model learning?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Overfitting: Is there a gap between training and validation?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Early stopping points: When did improvement plateau?</a:t>
            </a:r>
          </a:p>
        </p:txBody>
      </p:sp>
    </p:spTree>
    <p:extLst>
      <p:ext uri="{BB962C8B-B14F-4D97-AF65-F5344CB8AC3E}">
        <p14:creationId xmlns:p14="http://schemas.microsoft.com/office/powerpoint/2010/main" val="4269722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6C9E-3135-09FD-F4A6-64707935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5072-D095-B1D6-F998-944BC09F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Inference Pipeline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74861C-F245-4A1B-E529-BFA850930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8138" y="1733234"/>
            <a:ext cx="5470525" cy="33915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27844-2898-B222-74CD-A65E2F0B3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Standalone inference module for testing single images.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Same preprocessing steps ensure consistency.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47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7516-68A5-16FA-7980-F7C18321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1B9D-9E23-0337-9118-A6B8091E8F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07013" y="5476842"/>
            <a:ext cx="7548664" cy="1021235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Streamlit Web Application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ACBFC6-0989-F4D5-287E-38BD58F6FAC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431915" y="645095"/>
            <a:ext cx="6773693" cy="4831747"/>
          </a:xfrm>
        </p:spPr>
      </p:pic>
    </p:spTree>
    <p:extLst>
      <p:ext uri="{BB962C8B-B14F-4D97-AF65-F5344CB8AC3E}">
        <p14:creationId xmlns:p14="http://schemas.microsoft.com/office/powerpoint/2010/main" val="2318142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CE96-533D-136B-9B67-65C79E94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39A0-FCB0-D9B7-6623-5498D8D376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180" y="5136289"/>
            <a:ext cx="9601200" cy="1303337"/>
          </a:xfrm>
        </p:spPr>
        <p:txBody>
          <a:bodyPr>
            <a:normAutofit/>
          </a:bodyPr>
          <a:lstStyle/>
          <a:p>
            <a:r>
              <a:rPr lang="en-US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Command Line Execution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3B0A61-0A06-B275-AC13-62DD7DE5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910" y="768485"/>
            <a:ext cx="6443621" cy="453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05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FBA3-24AC-3477-6745-421DCBFD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231D64-5669-A127-1D70-AD627E16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7A92DD-41C9-4711-169D-440A211ABB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upload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preprocessing and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Immediate display of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User-friendly interface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0D180-2EE3-53C6-7551-B876F8EBE9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Potential enhancements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descriptions instead of just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prediction options</a:t>
            </a:r>
          </a:p>
          <a:p>
            <a:r>
              <a:rPr lang="en-US" dirty="0"/>
              <a:t>Beautiful Frontend Design</a:t>
            </a:r>
          </a:p>
        </p:txBody>
      </p:sp>
    </p:spTree>
    <p:extLst>
      <p:ext uri="{BB962C8B-B14F-4D97-AF65-F5344CB8AC3E}">
        <p14:creationId xmlns:p14="http://schemas.microsoft.com/office/powerpoint/2010/main" val="2607724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EFAB-C83C-B2FA-A5C3-D11D8B5A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0D5F-98FE-0D85-24C0-903A4168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Complete Project Pipeline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FC398-B383-69A1-C260-6B47E64D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{Data Collection}: Using GTSRB dataset</a:t>
            </a:r>
          </a:p>
          <a:p>
            <a:r>
              <a:rPr lang="en-US" dirty="0"/>
              <a:t>{Exploratory Data Analysis}: Understanding data characteristics</a:t>
            </a:r>
          </a:p>
          <a:p>
            <a:r>
              <a:rPr lang="en-US" dirty="0"/>
              <a:t>{Data Preprocessing}: Resizing, normalization, and encoding</a:t>
            </a:r>
          </a:p>
          <a:p>
            <a:r>
              <a:rPr lang="en-US" dirty="0"/>
              <a:t>{Model Development}: CNN architecture design</a:t>
            </a:r>
          </a:p>
          <a:p>
            <a:r>
              <a:rPr lang="en-US" dirty="0"/>
              <a:t>{Model Training}: Parameter optimization and validation</a:t>
            </a:r>
          </a:p>
          <a:p>
            <a:r>
              <a:rPr lang="en-US" dirty="0"/>
              <a:t>{Model Evaluation}: Performance assessment</a:t>
            </a:r>
          </a:p>
          <a:p>
            <a:r>
              <a:rPr lang="en-US" dirty="0"/>
              <a:t>{Inference}: Real-world testing</a:t>
            </a:r>
          </a:p>
          <a:p>
            <a:r>
              <a:rPr lang="en-US" dirty="0"/>
              <a:t>{Application Development}: User interface creation</a:t>
            </a:r>
          </a:p>
        </p:txBody>
      </p:sp>
    </p:spTree>
    <p:extLst>
      <p:ext uri="{BB962C8B-B14F-4D97-AF65-F5344CB8AC3E}">
        <p14:creationId xmlns:p14="http://schemas.microsoft.com/office/powerpoint/2010/main" val="2372348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BCBC-14D7-3ED8-CD67-28AA08A9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0BCB-1532-CD21-F9FA-6FF2DC7F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9982-445D-460D-A46F-FBACBE2D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Traffic sign recognition is crucial for autonomous driving safety, CNN-based approach provides high accuracy and robust performance.</a:t>
            </a:r>
          </a:p>
          <a:p>
            <a:pPr marL="0" indent="0">
              <a:buNone/>
            </a:pPr>
            <a:r>
              <a:rPr lang="en-US" sz="2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Complete pipeline from data preparation to deployment demonstration and The modular design allows for easy extension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226924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183</TotalTime>
  <Words>1532</Words>
  <Application>Microsoft Office PowerPoint</Application>
  <PresentationFormat>Widescreen</PresentationFormat>
  <Paragraphs>206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Arial</vt:lpstr>
      <vt:lpstr>Consolas</vt:lpstr>
      <vt:lpstr>Garamond</vt:lpstr>
      <vt:lpstr>Times New Roman</vt:lpstr>
      <vt:lpstr>Organic</vt:lpstr>
      <vt:lpstr>Traffic Signs Recognition using CNN in Keras</vt:lpstr>
      <vt:lpstr>Introduction</vt:lpstr>
      <vt:lpstr>Project Overview</vt:lpstr>
      <vt:lpstr>Dataset Description</vt:lpstr>
      <vt:lpstr>Exploratory Data Analysis</vt:lpstr>
      <vt:lpstr>Sample Images Visualization</vt:lpstr>
      <vt:lpstr>Data Preprocessing Strategy</vt:lpstr>
      <vt:lpstr>CNN Architecture Overview</vt:lpstr>
      <vt:lpstr>Model Architecture Implementation</vt:lpstr>
      <vt:lpstr>Architectural Design ChoicesOutput Layer: 43 neurons with softmax activation for multi-class probabilities </vt:lpstr>
      <vt:lpstr>Training Configuration</vt:lpstr>
      <vt:lpstr>Model Training Workflow</vt:lpstr>
      <vt:lpstr>Evaluation Metrics</vt:lpstr>
      <vt:lpstr>Evaluation Implementation</vt:lpstr>
      <vt:lpstr>Inference Pipeline</vt:lpstr>
      <vt:lpstr>Streamlit Web Application</vt:lpstr>
      <vt:lpstr>Command Line Execution</vt:lpstr>
      <vt:lpstr>User Interface Features</vt:lpstr>
      <vt:lpstr>Complete Project Pipeline</vt:lpstr>
      <vt:lpstr>Conclusion and Thank you</vt:lpstr>
      <vt:lpstr>Traffic Signs Recognition using CNN in Keras</vt:lpstr>
      <vt:lpstr>Introduction</vt:lpstr>
      <vt:lpstr>Project Overview</vt:lpstr>
      <vt:lpstr>Dataset Description</vt:lpstr>
      <vt:lpstr>Exploratory Data Analysis</vt:lpstr>
      <vt:lpstr>Sample Images Visualization</vt:lpstr>
      <vt:lpstr>Data Preprocessing Strategy</vt:lpstr>
      <vt:lpstr>CNN Architecture Overview</vt:lpstr>
      <vt:lpstr>Model Architecture Implementation</vt:lpstr>
      <vt:lpstr>Architectural Design ChoicesOutput Layer: 43 neurons with softmax activation for multi-class probabilities </vt:lpstr>
      <vt:lpstr>Training Configuration</vt:lpstr>
      <vt:lpstr>Model Training Workflow</vt:lpstr>
      <vt:lpstr>Evaluation Metrics</vt:lpstr>
      <vt:lpstr>Evaluation Implementation</vt:lpstr>
      <vt:lpstr>Inference Pipeline</vt:lpstr>
      <vt:lpstr>Streamlit Web Application</vt:lpstr>
      <vt:lpstr>Command Line Execution</vt:lpstr>
      <vt:lpstr>User Interface Features</vt:lpstr>
      <vt:lpstr>Complete Project Pipeline</vt:lpstr>
      <vt:lpstr>Conclusion and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Tonmoy Islam</dc:creator>
  <cp:lastModifiedBy>Tonmoy Islam</cp:lastModifiedBy>
  <cp:revision>11</cp:revision>
  <dcterms:created xsi:type="dcterms:W3CDTF">2025-03-19T00:53:26Z</dcterms:created>
  <dcterms:modified xsi:type="dcterms:W3CDTF">2025-03-19T06:50:29Z</dcterms:modified>
</cp:coreProperties>
</file>